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70" r:id="rId9"/>
    <p:sldId id="266" r:id="rId10"/>
    <p:sldId id="271" r:id="rId11"/>
    <p:sldId id="272" r:id="rId12"/>
    <p:sldId id="273" r:id="rId13"/>
    <p:sldId id="265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3BDEB-BCA1-48E4-8D6E-41FC39A74429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5D834-2A27-4A0A-A432-E001DD9F6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91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5D834-2A27-4A0A-A432-E001DD9F6B4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60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12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6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66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6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38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42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69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91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80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518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70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3503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474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275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03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53D84-63C0-4E60-A2A2-1C09AB9C4AED}" type="datetimeFigureOut">
              <a:rPr lang="ru-RU" smtClean="0"/>
              <a:t>28.02.2023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CDECA05-845E-4261-97D8-9F97A353B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0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14764" y="0"/>
            <a:ext cx="9217891" cy="1710908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 «Школа № 1103 имени Героя Российской Федерации А.В. Соломатина»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66009" y="2837742"/>
            <a:ext cx="8915399" cy="1126283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УСАДЬБЫ ЯСЕНЕВО И ХРАМА ПЕТРА И ПАВЛА</a:t>
            </a:r>
          </a:p>
          <a:p>
            <a:pPr algn="ctr"/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377681" y="4787754"/>
            <a:ext cx="4539383" cy="1888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2000" dirty="0">
                <a:latin typeface="Calibri" pitchFamily="34" charset="0"/>
                <a:cs typeface="Times New Roman" pitchFamily="18" charset="0"/>
              </a:rPr>
              <a:t>Автор</a:t>
            </a:r>
            <a:r>
              <a:rPr lang="en-US" sz="2000" dirty="0">
                <a:latin typeface="Calibri" pitchFamily="34" charset="0"/>
                <a:cs typeface="Times New Roman" pitchFamily="18" charset="0"/>
              </a:rPr>
              <a:t>:</a:t>
            </a:r>
            <a:r>
              <a:rPr lang="ru-RU" sz="2000" dirty="0">
                <a:latin typeface="Calibri" pitchFamily="34" charset="0"/>
                <a:cs typeface="Times New Roman" pitchFamily="18" charset="0"/>
              </a:rPr>
              <a:t> Ларкин Григорий</a:t>
            </a:r>
          </a:p>
          <a:p>
            <a:pPr algn="r">
              <a:lnSpc>
                <a:spcPct val="150000"/>
              </a:lnSpc>
            </a:pPr>
            <a:r>
              <a:rPr lang="ru-RU" sz="2000" dirty="0">
                <a:latin typeface="Calibri" pitchFamily="34" charset="0"/>
                <a:cs typeface="Times New Roman" pitchFamily="18" charset="0"/>
              </a:rPr>
              <a:t>Ученик 10 класса «Б» школы № 1103  </a:t>
            </a:r>
          </a:p>
          <a:p>
            <a:pPr algn="r">
              <a:lnSpc>
                <a:spcPct val="150000"/>
              </a:lnSpc>
            </a:pPr>
            <a:r>
              <a:rPr lang="ru-RU" sz="2000" dirty="0">
                <a:latin typeface="Calibri" pitchFamily="34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latin typeface="Calibri" pitchFamily="34" charset="0"/>
                <a:cs typeface="Times New Roman" pitchFamily="18" charset="0"/>
              </a:rPr>
              <a:t>: </a:t>
            </a:r>
            <a:r>
              <a:rPr lang="ru-RU" sz="2000" dirty="0">
                <a:latin typeface="Calibri" pitchFamily="34" charset="0"/>
                <a:cs typeface="Times New Roman" pitchFamily="18" charset="0"/>
              </a:rPr>
              <a:t>Сокур Мария Евгеньевна</a:t>
            </a:r>
          </a:p>
          <a:p>
            <a:pPr algn="r">
              <a:lnSpc>
                <a:spcPct val="150000"/>
              </a:lnSpc>
            </a:pPr>
            <a:r>
              <a:rPr lang="ru-RU" sz="2000" dirty="0">
                <a:latin typeface="Calibri" pitchFamily="34" charset="0"/>
                <a:cs typeface="Times New Roman" pitchFamily="18" charset="0"/>
              </a:rPr>
              <a:t>Преподаватель физики, информатики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857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8300" y="1176447"/>
            <a:ext cx="8915400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Согласно данным с официально сайта мера Москвы в столице активно ведется реставрационные работы достопримечательностей.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Но не всегда у города есть возможность начать реставрацию культурного наследия.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И тогда нужно находить новые методы сохранения культурного наследия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t="18971" r="6373" b="26521"/>
          <a:stretch/>
        </p:blipFill>
        <p:spPr>
          <a:xfrm>
            <a:off x="3989210" y="4040909"/>
            <a:ext cx="6724666" cy="28170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3976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76148" y="1334610"/>
            <a:ext cx="8915400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В ходе поиска информации удалось узнать:</a:t>
            </a:r>
          </a:p>
          <a:p>
            <a:pPr>
              <a:lnSpc>
                <a:spcPct val="150000"/>
              </a:lnSpc>
            </a:pPr>
            <a:r>
              <a:rPr lang="ru-RU" sz="2000" dirty="0"/>
              <a:t>существующие формы сохранения культурного наследия;</a:t>
            </a:r>
          </a:p>
          <a:p>
            <a:pPr>
              <a:lnSpc>
                <a:spcPct val="150000"/>
              </a:lnSpc>
            </a:pPr>
            <a:r>
              <a:rPr lang="ru-RU" sz="2000" dirty="0"/>
              <a:t>габаритные размеры усадьбы Ясенево, храма Петра и Павла;</a:t>
            </a:r>
          </a:p>
          <a:p>
            <a:pPr>
              <a:lnSpc>
                <a:spcPct val="150000"/>
              </a:lnSpc>
            </a:pPr>
            <a:r>
              <a:rPr lang="ru-RU" sz="2000" dirty="0"/>
              <a:t>причины из-за которых не начинается реставрация усадьбы Ясенево.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  <a:p>
            <a:pPr>
              <a:lnSpc>
                <a:spcPct val="150000"/>
              </a:lnSpc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3" t="15812" r="23653" b="23339"/>
          <a:stretch/>
        </p:blipFill>
        <p:spPr>
          <a:xfrm>
            <a:off x="1795751" y="4134717"/>
            <a:ext cx="3768437" cy="22721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475" y="4413539"/>
            <a:ext cx="41338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9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78998" y="1264555"/>
            <a:ext cx="8915400" cy="3777622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2000" b="1" dirty="0"/>
              <a:t>Цель проекта:</a:t>
            </a:r>
            <a:r>
              <a:rPr lang="ru-RU" sz="2000" dirty="0"/>
              <a:t> </a:t>
            </a:r>
            <a:r>
              <a:rPr lang="ru-RU" sz="2000" dirty="0">
                <a:effectLst/>
                <a:ea typeface="Calibri" panose="020F0502020204030204" pitchFamily="34" charset="0"/>
              </a:rPr>
              <a:t>создать макеты реконструированной усадьбы Ясенево и храма Петра и Павла для экспозиции школьного музея.</a:t>
            </a:r>
            <a:endParaRPr lang="ru-RU" sz="2000" dirty="0"/>
          </a:p>
          <a:p>
            <a:pPr marL="0" indent="0" algn="just">
              <a:lnSpc>
                <a:spcPct val="170000"/>
              </a:lnSpc>
              <a:spcAft>
                <a:spcPts val="800"/>
              </a:spcAft>
              <a:buNone/>
            </a:pPr>
            <a:r>
              <a:rPr lang="ru-RU" sz="2000" b="1" dirty="0"/>
              <a:t>Задачи:</a:t>
            </a:r>
          </a:p>
          <a:p>
            <a:pPr>
              <a:lnSpc>
                <a:spcPct val="170000"/>
              </a:lnSpc>
            </a:pPr>
            <a:r>
              <a:rPr lang="ru-RU" sz="2000" dirty="0"/>
              <a:t>подобрать и изучить источники информации об истории усадьбы и ее текущем состоянии, изучить архитектурные особенности храмов;</a:t>
            </a:r>
          </a:p>
          <a:p>
            <a:pPr lvl="0">
              <a:lnSpc>
                <a:spcPct val="170000"/>
              </a:lnSpc>
            </a:pPr>
            <a:r>
              <a:rPr lang="ru-RU" sz="2000" dirty="0"/>
              <a:t>составить эскиз и 3D-модель будущих изделий;</a:t>
            </a:r>
          </a:p>
          <a:p>
            <a:pPr lvl="0">
              <a:lnSpc>
                <a:spcPct val="170000"/>
              </a:lnSpc>
            </a:pPr>
            <a:r>
              <a:rPr lang="ru-RU" sz="2000" dirty="0"/>
              <a:t>изготовить макеты с интерактивными элементами;</a:t>
            </a:r>
          </a:p>
          <a:p>
            <a:pPr lvl="0">
              <a:lnSpc>
                <a:spcPct val="170000"/>
              </a:lnSpc>
            </a:pPr>
            <a:r>
              <a:rPr lang="ru-RU" sz="2000" dirty="0"/>
              <a:t>организовать проведение экскурсий на базе школьного музея.</a:t>
            </a:r>
          </a:p>
          <a:p>
            <a:pPr marL="0" indent="0">
              <a:lnSpc>
                <a:spcPct val="17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0813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Ход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Проектирование </a:t>
            </a:r>
            <a:r>
              <a:rPr lang="en-US" sz="2000" dirty="0"/>
              <a:t>3D </a:t>
            </a:r>
            <a:r>
              <a:rPr lang="ru-RU" sz="2000" dirty="0"/>
              <a:t>модели усадьбы Ясенево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Печать деталей на </a:t>
            </a:r>
            <a:r>
              <a:rPr lang="en-US" sz="2000" dirty="0"/>
              <a:t>3D </a:t>
            </a:r>
            <a:r>
              <a:rPr lang="ru-RU" sz="2000" dirty="0"/>
              <a:t>принтере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Сборка и покраска деталей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Проектирование электрической схемы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Подключение электрических компонентов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Первая экскурсия</a:t>
            </a:r>
          </a:p>
        </p:txBody>
      </p:sp>
    </p:spTree>
    <p:extLst>
      <p:ext uri="{BB962C8B-B14F-4D97-AF65-F5344CB8AC3E}">
        <p14:creationId xmlns:p14="http://schemas.microsoft.com/office/powerpoint/2010/main" val="303394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Материалы и программы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6" t="17425" r="17709" b="10693"/>
          <a:stretch/>
        </p:blipFill>
        <p:spPr>
          <a:xfrm>
            <a:off x="1784683" y="1219665"/>
            <a:ext cx="1496622" cy="147802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1" t="22516" r="5807" b="22202"/>
          <a:stretch/>
        </p:blipFill>
        <p:spPr>
          <a:xfrm>
            <a:off x="4077645" y="1208301"/>
            <a:ext cx="2410446" cy="153095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64" y="870116"/>
            <a:ext cx="1779060" cy="17790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3" t="6487" r="22672" b="8980"/>
          <a:stretch/>
        </p:blipFill>
        <p:spPr>
          <a:xfrm>
            <a:off x="634754" y="3662432"/>
            <a:ext cx="2027707" cy="224757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" t="2559" r="8547" b="4274"/>
          <a:stretch/>
        </p:blipFill>
        <p:spPr>
          <a:xfrm>
            <a:off x="3396839" y="3737561"/>
            <a:ext cx="1736660" cy="21724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877" y="3896840"/>
            <a:ext cx="1889523" cy="18895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1616" y="2739259"/>
            <a:ext cx="2682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GPD2846A – mp3 </a:t>
            </a:r>
            <a:r>
              <a:rPr lang="ru-RU" sz="2000" b="1" dirty="0"/>
              <a:t>модуль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052" y="2739259"/>
            <a:ext cx="1590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LED </a:t>
            </a:r>
            <a:r>
              <a:rPr lang="ru-RU" sz="2000" b="1" dirty="0"/>
              <a:t>лента </a:t>
            </a:r>
            <a:r>
              <a:rPr lang="en-US" sz="2000" b="1" dirty="0"/>
              <a:t>12V</a:t>
            </a:r>
            <a:endParaRPr lang="ru-RU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133083" y="2782669"/>
            <a:ext cx="3730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Fritzing</a:t>
            </a:r>
            <a:r>
              <a:rPr lang="en-US" sz="2000" b="1" dirty="0"/>
              <a:t> –</a:t>
            </a:r>
            <a:r>
              <a:rPr lang="ru-RU" sz="2000" b="1" dirty="0"/>
              <a:t> ПО для создания эл. схем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110" y="6036179"/>
            <a:ext cx="2792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FlyingBear</a:t>
            </a:r>
            <a:r>
              <a:rPr lang="en-US" sz="2000" b="1" dirty="0"/>
              <a:t> 5 -  </a:t>
            </a:r>
            <a:r>
              <a:rPr lang="ru-RU" sz="2000" b="1" dirty="0"/>
              <a:t>3</a:t>
            </a:r>
            <a:r>
              <a:rPr lang="en-US" sz="2000" b="1" dirty="0"/>
              <a:t>D </a:t>
            </a:r>
            <a:r>
              <a:rPr lang="ru-RU" sz="2000" b="1" dirty="0"/>
              <a:t>принтер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333" y="5938816"/>
            <a:ext cx="2001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PETG </a:t>
            </a:r>
            <a:r>
              <a:rPr lang="ru-RU" sz="2000" b="1" dirty="0"/>
              <a:t>– </a:t>
            </a:r>
            <a:r>
              <a:rPr lang="ru-RU" sz="2000" b="1" dirty="0" err="1"/>
              <a:t>филамент</a:t>
            </a:r>
            <a:endParaRPr lang="ru-RU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850028" y="5888503"/>
            <a:ext cx="2287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САПР Компас-3</a:t>
            </a:r>
            <a:r>
              <a:rPr lang="en-US" sz="2000" b="1" dirty="0"/>
              <a:t>D</a:t>
            </a:r>
            <a:endParaRPr lang="ru-RU" sz="2000" b="1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6" t="20472" r="1380" b="34006"/>
          <a:stretch/>
        </p:blipFill>
        <p:spPr>
          <a:xfrm>
            <a:off x="8491778" y="3757686"/>
            <a:ext cx="2184730" cy="20286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84498" y="5884206"/>
            <a:ext cx="2399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Динамик 2 Вт 8 Ом</a:t>
            </a:r>
          </a:p>
        </p:txBody>
      </p:sp>
    </p:spTree>
    <p:extLst>
      <p:ext uri="{BB962C8B-B14F-4D97-AF65-F5344CB8AC3E}">
        <p14:creationId xmlns:p14="http://schemas.microsoft.com/office/powerpoint/2010/main" val="237016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</a:t>
            </a:r>
            <a:r>
              <a:rPr lang="en-US" dirty="0"/>
              <a:t>3D </a:t>
            </a:r>
            <a:r>
              <a:rPr lang="ru-RU" dirty="0"/>
              <a:t>модели усадьбы Ясенево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2264" y="1698595"/>
            <a:ext cx="8915400" cy="377762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3D </a:t>
            </a:r>
            <a:r>
              <a:rPr lang="ru-RU" sz="2000" dirty="0"/>
              <a:t>модель была спроектирована в САПР Компас </a:t>
            </a:r>
            <a:r>
              <a:rPr lang="en-US" sz="2000" dirty="0"/>
              <a:t>3D</a:t>
            </a:r>
            <a:r>
              <a:rPr lang="ru-RU" sz="2000" dirty="0"/>
              <a:t> и разбита на части: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Фундамент, состоящий из центральной части и двух боковых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Главный этаж, состоящий из центральной части и двух боковых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Крыша, состоящая из 4 равных по габаритам частей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Лестница, состоящая из 2 равных отзеркаленных частей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2" t="18189" r="16567" b="23045"/>
          <a:stretch/>
        </p:blipFill>
        <p:spPr>
          <a:xfrm>
            <a:off x="1793669" y="5220243"/>
            <a:ext cx="2377286" cy="13912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932" y="4953001"/>
            <a:ext cx="2945607" cy="17646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50061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Печать деталей </a:t>
            </a:r>
            <a:r>
              <a:rPr lang="en-US" dirty="0"/>
              <a:t>3D </a:t>
            </a:r>
            <a:r>
              <a:rPr lang="ru-RU" dirty="0"/>
              <a:t>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28078" y="1671961"/>
            <a:ext cx="8915400" cy="377762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Печать всех деталей производилась на принтере </a:t>
            </a:r>
            <a:r>
              <a:rPr lang="en-US" sz="2000" dirty="0" err="1"/>
              <a:t>FlyingBear</a:t>
            </a:r>
            <a:r>
              <a:rPr lang="en-US" sz="2000" dirty="0"/>
              <a:t> Ghost 5 </a:t>
            </a:r>
            <a:r>
              <a:rPr lang="ru-RU" sz="2000" dirty="0"/>
              <a:t>пластиком </a:t>
            </a:r>
            <a:r>
              <a:rPr lang="en-US" sz="2000" dirty="0"/>
              <a:t>PETG</a:t>
            </a:r>
            <a:r>
              <a:rPr lang="ru-RU" sz="2000" dirty="0"/>
              <a:t>. Выбор этого пластика обоснован тем, что он имеет низкий процент усадки.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Общее время печати составило около 186 часов.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844" y="3029527"/>
            <a:ext cx="2728768" cy="36383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2612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и покраска деталей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92925" y="1283855"/>
            <a:ext cx="8915400" cy="37776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Детали склеивались при помощи двухкомпонентного клея и фиксировались при помощи струбцин 3 видов: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Корпусных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Ленточных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Прижимных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Покраска деталей происходила в несколько этапов: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Зачистка при помощи наждачной бумаги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Грунтовка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Покраска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404" y="2327562"/>
            <a:ext cx="2560147" cy="19201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409" y="2562435"/>
            <a:ext cx="2753591" cy="36714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596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Проектирование электрической схемы для усадьбы Ясенево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4070622"/>
            <a:ext cx="5862059" cy="2343865"/>
          </a:xfrm>
        </p:spPr>
      </p:pic>
      <p:sp>
        <p:nvSpPr>
          <p:cNvPr id="5" name="TextBox 4"/>
          <p:cNvSpPr txBox="1"/>
          <p:nvPr/>
        </p:nvSpPr>
        <p:spPr>
          <a:xfrm>
            <a:off x="4154455" y="1535668"/>
            <a:ext cx="4955203" cy="494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dirty="0"/>
              <a:t>1. Электрическая схема освещения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2925" y="1828784"/>
            <a:ext cx="2773516" cy="1418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Компоненты: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Блок питания 12 В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LED </a:t>
            </a:r>
            <a:r>
              <a:rPr lang="ru-RU" sz="2000" dirty="0"/>
              <a:t>Лента </a:t>
            </a:r>
            <a:r>
              <a:rPr lang="en-US" sz="2000" dirty="0"/>
              <a:t>12</a:t>
            </a:r>
            <a:r>
              <a:rPr lang="ru-RU" sz="2000" dirty="0"/>
              <a:t> 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1903" y="3285422"/>
            <a:ext cx="9789859" cy="49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Для большей реалистичности проекта присутствует внутренняя подсветка</a:t>
            </a:r>
          </a:p>
        </p:txBody>
      </p:sp>
    </p:spTree>
    <p:extLst>
      <p:ext uri="{BB962C8B-B14F-4D97-AF65-F5344CB8AC3E}">
        <p14:creationId xmlns:p14="http://schemas.microsoft.com/office/powerpoint/2010/main" val="348704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Проектирование электрической схемы для усадьбы Ясенево</a:t>
            </a:r>
            <a:br>
              <a:rPr lang="ru-RU" dirty="0"/>
            </a:b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711499" y="1535668"/>
            <a:ext cx="3841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2. </a:t>
            </a:r>
            <a:r>
              <a:rPr lang="ru-RU" sz="2000" b="1" dirty="0"/>
              <a:t>Электрическая</a:t>
            </a:r>
            <a:r>
              <a:rPr lang="ru-RU" b="1" dirty="0"/>
              <a:t> схема </a:t>
            </a:r>
            <a:r>
              <a:rPr lang="en-US" b="1" dirty="0"/>
              <a:t>mp3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592925" y="2087419"/>
            <a:ext cx="2985113" cy="1880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Компоненты: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Блок питания </a:t>
            </a:r>
            <a:r>
              <a:rPr lang="en-US" sz="2000" dirty="0"/>
              <a:t>5</a:t>
            </a:r>
            <a:r>
              <a:rPr lang="ru-RU" sz="2000" dirty="0"/>
              <a:t> В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Модуль </a:t>
            </a:r>
            <a:r>
              <a:rPr lang="en-US" sz="2000" dirty="0"/>
              <a:t>mp3 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Динамик 2 Вт 8 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1802" y="4375782"/>
            <a:ext cx="4526966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Для большей реалистичности проекта присутствует функция «автономная экскурсия»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C284DA-EFBB-663A-4394-C7FFB5E0BC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t="6393" r="5068" b="4243"/>
          <a:stretch/>
        </p:blipFill>
        <p:spPr bwMode="auto">
          <a:xfrm>
            <a:off x="7554897" y="2206031"/>
            <a:ext cx="3835154" cy="40278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0286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Проектирование электрической схемы для храма Петра и Павла</a:t>
            </a:r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E676169-31A8-0D7A-081B-C1F2D103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837" y="2061940"/>
            <a:ext cx="4981575" cy="31813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A38C73B-54FB-EB10-D6C9-9B6BC5F9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91" y="2061940"/>
            <a:ext cx="49053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49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электрических компонентов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Все компоненты спаивались. Макетные платы не использовались.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Оборудование: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Паяльник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Припой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Канифоль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 err="1"/>
              <a:t>Термоусадка</a:t>
            </a: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171092" y="2742443"/>
            <a:ext cx="3042732" cy="40569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911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Первая экскурсия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FAA202-7EA4-78D6-626E-3B6A0C401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7" y="1890711"/>
            <a:ext cx="5572125" cy="3076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9F2761-D6DE-71D1-B5EA-6E2AF4EA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585" y="2301247"/>
            <a:ext cx="5143500" cy="3838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05021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8598" y="1455938"/>
            <a:ext cx="9516014" cy="4535183"/>
          </a:xfrm>
        </p:spPr>
        <p:txBody>
          <a:bodyPr>
            <a:normAutofit fontScale="625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«Решительная мера»: суд обязал собственника восстановить усадьбу Ясенево //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asi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URL: https://www.asi.org.ru/news/2022/02/01/reshitelnaya-mera-sud-obyazal-sobstvennika-vosstanovit-usadbu-yasenevo/ (дата обращения: 10.02.2023).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Сергей Собянин представил основные объекты реставрации 2022 года // mos.ru URL: https://www.mos.ru/mayor/themes/238299/8047050/ (дата обращения: 10.02.2023).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Коробко М.Ю. Усадьба Ясенево. - 1-е изд. - М.: Вече, 2014. - 160 с.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Усадьба Ясенево // За Калужской Заставой URL: https://uzao.aif.ru/stati/tainy-usadby-yasenevo-kraeved-znakomit-s-istoriei-byvsego-dvoryanskogo-gnezda (дата обращения: 10.02.2023).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Тайны усадьбы Ясенево. Краевед знакомит с историей бывшего дворянского гнезда // Яндекс Дзен URL: https://dzen.ru/a/YHMP7mYNSFKu9CTc (дата обращения: 10.02.2023).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Компас-3D //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kompas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URL: https://kompas.ru (дата обращения: 10.02.2023).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Fritzing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//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Fritzing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URL: https://fritzing.org (дата обращения: 10.02.2023).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7667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364" y="2549236"/>
            <a:ext cx="11199812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071342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430</TotalTime>
  <Words>650</Words>
  <Application>Microsoft Office PowerPoint</Application>
  <PresentationFormat>Широкоэкранный</PresentationFormat>
  <Paragraphs>89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Легкий дым</vt:lpstr>
      <vt:lpstr>Государственное бюджетное общеобразовательное учреждение города Москвы «Школа № 1103 имени Героя Российской Федерации А.В. Соломатина» </vt:lpstr>
      <vt:lpstr>Актуальность работы</vt:lpstr>
      <vt:lpstr>Исследование</vt:lpstr>
      <vt:lpstr>Цель и задачи</vt:lpstr>
      <vt:lpstr>Ход работы</vt:lpstr>
      <vt:lpstr>Материалы и программы</vt:lpstr>
      <vt:lpstr>Проектирование 3D модели усадьбы Ясенево</vt:lpstr>
      <vt:lpstr>Печать деталей 3D моделей</vt:lpstr>
      <vt:lpstr>Сборка и покраска деталей</vt:lpstr>
      <vt:lpstr>Проектирование электрической схемы для усадьбы Ясенево </vt:lpstr>
      <vt:lpstr>Проектирование электрической схемы для усадьбы Ясенево </vt:lpstr>
      <vt:lpstr>Проектирование электрической схемы для храма Петра и Павла </vt:lpstr>
      <vt:lpstr>Подключение электрических компонентов</vt:lpstr>
      <vt:lpstr>Первая экскурсия</vt:lpstr>
      <vt:lpstr>Список литературы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 города Москвы «Школа № 1103 имени Героя Российской Федерации А.В. Соломатина» </dc:title>
  <dc:creator>Admin</dc:creator>
  <cp:lastModifiedBy>ViktorDydka</cp:lastModifiedBy>
  <cp:revision>21</cp:revision>
  <dcterms:created xsi:type="dcterms:W3CDTF">2023-02-13T09:09:54Z</dcterms:created>
  <dcterms:modified xsi:type="dcterms:W3CDTF">2023-02-28T06:19:49Z</dcterms:modified>
</cp:coreProperties>
</file>